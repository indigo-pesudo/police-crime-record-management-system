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689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097280"/>
            <a:ext cx="3291840" cy="32918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188720" y="3840480"/>
            <a:ext cx="2560320" cy="25603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60990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Police Crime Record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Mirthula Ferando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Information Technology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July 2026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Document Covers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17161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58368" y="15316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78" y="161483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99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18013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scope &amp; definitions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92040" y="979279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093208" y="15316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418" y="1614830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97880" y="1399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Description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897880" y="180136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functions &amp; environment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46888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658368" y="29946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" y="3077870"/>
            <a:ext cx="473659" cy="4736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2862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Requirements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63040" y="3264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needs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892040" y="2510899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093208" y="29946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6418" y="3077870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97880" y="2862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Interfaces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897880" y="32644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hardware &amp; software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57200" y="3799114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658368" y="44577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" y="4540910"/>
            <a:ext cx="473659" cy="47365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4325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463040" y="47274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FIR, investigation &amp; evidence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4892040" y="3822192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5093208" y="44577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6418" y="4540910"/>
            <a:ext cx="473659" cy="47365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897880" y="4325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Constraints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5897880" y="47274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 assumptions, acceptance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" y="148864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2103120"/>
            <a:ext cx="347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functional and non-functional requirements of the Police Crime Record Management System, automating FIR registration, criminal history, investigation tracking, evidence management, and case reporting. Serves as a reference for developers, testers, and stakeholders.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892040" y="1417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363" y="1488643"/>
            <a:ext cx="405994" cy="405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92040" y="2084832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Registration and Management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History Management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Status Tracking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Tracking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Report Generation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and Station Management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Key Definitions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21792" y="140817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140817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64208" y="126187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Information Report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00600" y="118872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965192" y="140817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65192" y="140817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07608" y="126187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Officer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21792" y="241401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792" y="241401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664208" y="226771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Police Administrator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219456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965192" y="241401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65192" y="241401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07608" y="226771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named as suspect in a case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1792" y="341985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1792" y="341985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664208" y="327355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 has suffered harm from a crime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00600" y="320040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965192" y="341985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65192" y="341985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07608" y="327355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or digital material collected in a case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21792" y="442569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21792" y="442569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Diary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664208" y="427939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record of investigation activities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00600" y="4206240"/>
            <a:ext cx="4023360" cy="841248"/>
          </a:xfrm>
          <a:prstGeom prst="roundRect">
            <a:avLst>
              <a:gd name="adj" fmla="val 7609"/>
            </a:avLst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965192" y="442569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65192" y="442569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007608" y="427939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for storing crime record information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System Users &amp; Functions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80" y="1299820"/>
            <a:ext cx="372161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207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97280" y="14904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stations &amp; view all reports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80" y="2351380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258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 / Investigating Officer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97280" y="2542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FIR, update status, manage evidence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3337560"/>
            <a:ext cx="502920" cy="502920"/>
          </a:xfrm>
          <a:prstGeom prst="ellipse">
            <a:avLst/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580" y="3402940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310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Clerk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097280" y="35935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criminal records &amp; data entry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846320" y="118872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1B433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512064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Functions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120640" y="1828800"/>
            <a:ext cx="3383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FIR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Investigation Status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Search Criminal Records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Track Evidence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Case Reports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Records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Environment &amp; Design Constraints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" y="153436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Environment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85800" y="21488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</a:t>
            </a: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Java JDK 17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/ VS Code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 (Web App)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937760" y="1463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083" y="1534363"/>
            <a:ext cx="405994" cy="405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937760" y="21488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programming language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Password-based authentication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under 25 seconds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of sensitive data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Functional Requirements — Overview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4340" y="13716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12014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407" y="163174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434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" y="248716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37460" y="13716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22326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527" y="1631747"/>
            <a:ext cx="439826" cy="4398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3746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610612" y="248716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Registration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40580" y="13716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532638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647" y="1631747"/>
            <a:ext cx="439826" cy="4398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4058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713732" y="248716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History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743700" y="13716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742950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6767" y="1631747"/>
            <a:ext cx="439826" cy="43982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4370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816852" y="248716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Status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4340" y="31546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1120140" y="33375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7407" y="3414827"/>
            <a:ext cx="439826" cy="43982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4340" y="4023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07492" y="427024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Tracking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2537460" y="31546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3223260" y="33375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0527" y="3414827"/>
            <a:ext cx="439826" cy="43982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537460" y="4023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2610612" y="427024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Records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4640580" y="31546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6"/>
          <p:cNvSpPr/>
          <p:nvPr/>
        </p:nvSpPr>
        <p:spPr>
          <a:xfrm>
            <a:off x="5326380" y="33375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3647" y="3414827"/>
            <a:ext cx="439826" cy="43982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640580" y="4023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4713732" y="427024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Reports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FR1 to FR4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80" y="1299820"/>
            <a:ext cx="372161" cy="3721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  User Login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14904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users via username and password.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80" y="2214220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10312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  FIR Registration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97280" y="24048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complainant, victim &amp; accused details, incident date/location, IPC sections; generate a unique FIR number.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580" y="3128620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01752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  Criminal History Management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97280" y="33192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search criminal records and view previous case history.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580" y="4043020"/>
            <a:ext cx="372161" cy="37216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393192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  Investigation Status Tracking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097280" y="42336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IO, update case status (Registered / Under Investigation / Chargesheet Filed / Closed), add case diary entries.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FR5 to FR7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" y="1442923"/>
            <a:ext cx="405994" cy="4059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44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  Evidence Tracking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88720" y="168249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evidence with a unique ID, record type/description/collection details, maintain chain-of-custody and storage location.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548640" cy="548640"/>
          </a:xfrm>
          <a:prstGeom prst="ellipse">
            <a:avLst/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" y="2585923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487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  Search Records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88720" y="282549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FIR Number, Complainant/Accused Name, Case ID, or IPC Section.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F4F8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" y="3728923"/>
            <a:ext cx="405994" cy="4059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630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  Case Reports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88720" y="396849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for Registered FIRs, Pending Cases, Solved/Closed Cases, Evidence Log, and Criminal History Summary.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Non-Functional Requirements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11480" y="12801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485900" y="1463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280" y="152842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359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6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under 3 seconds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320540" y="1463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920" y="152842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83280" y="2359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6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system availability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80760" y="12801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155180" y="1463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0560" y="1528420"/>
            <a:ext cx="372161" cy="3721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220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17920" y="2359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6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RBAC, audit trail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11480" y="31089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1485900" y="3291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1280" y="3357220"/>
            <a:ext cx="372161" cy="3721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292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8640" y="4187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6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UI, clear error messages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246120" y="31089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4320540" y="3291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5920" y="3357220"/>
            <a:ext cx="372161" cy="3721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33756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383280" y="4187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6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well-documented code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080760" y="31089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7155180" y="3291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0560" y="3357220"/>
            <a:ext cx="372161" cy="37216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17220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217920" y="4187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6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FIRs, 50K criminal records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Interface Requirements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522476" y="14356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799" y="1506931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03120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514600"/>
            <a:ext cx="22219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Registration Screen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Records Screen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Status Screen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Tracking Screen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Screen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73552" y="123444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338828" y="14356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151" y="1506931"/>
            <a:ext cx="405994" cy="405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64992" y="2103120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Interface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02152" y="2514600"/>
            <a:ext cx="22219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/ Laptop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Scanner (Optional)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Scanner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89904" y="123444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155180" y="14356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6503" y="1506931"/>
            <a:ext cx="405994" cy="4059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81344" y="2103120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Interface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18504" y="2514600"/>
            <a:ext cx="22219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Driver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Tomcat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System Features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545336" y="1417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716" y="14827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011680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Registration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58368" y="2560320"/>
            <a:ext cx="2276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8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Complainant name &amp; contact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8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date &amp; location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8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IPC sections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8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description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594360" y="4160520"/>
            <a:ext cx="2404872" cy="4572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Registered, Number Generated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73552" y="123444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361688" y="1417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068" y="148270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4992" y="2011680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Status Update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74720" y="2560320"/>
            <a:ext cx="2276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8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Number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8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Officer ID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8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8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 / Case Diary Entry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3410712" y="4160520"/>
            <a:ext cx="2404872" cy="4572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3456432" y="41605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Updated Successfully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89904" y="1234440"/>
            <a:ext cx="2679192" cy="3520440"/>
          </a:xfrm>
          <a:prstGeom prst="roundRect">
            <a:avLst>
              <a:gd name="adj" fmla="val 2730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7178040" y="1417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420" y="1482700"/>
            <a:ext cx="372161" cy="3721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81344" y="2011680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Tracking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291072" y="2560320"/>
            <a:ext cx="2276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8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ID &amp; Evidence Type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8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8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By &amp; Date</a:t>
            </a:r>
            <a:endParaRPr lang="en-US" sz="98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8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Location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6227064" y="4160520"/>
            <a:ext cx="2404872" cy="457200"/>
          </a:xfrm>
          <a:prstGeom prst="roundRect">
            <a:avLst>
              <a:gd name="adj" fmla="val 12000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6272784" y="416052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Logged Successfully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Data Requirements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65960" cy="3566160"/>
          </a:xfrm>
          <a:prstGeom prst="roundRect">
            <a:avLst>
              <a:gd name="adj" fmla="val 3721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211580" y="13533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1412748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190195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Table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4360" y="2286000"/>
            <a:ext cx="1691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FIR_ID (Integer)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Complainant_Name (Varchar)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Incident_Date (Date)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(Varchar)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IPC_Section (Varchar)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(Varchar)</a:t>
            </a:r>
            <a:endParaRPr lang="en-US" sz="860" dirty="0"/>
          </a:p>
        </p:txBody>
      </p:sp>
      <p:sp>
        <p:nvSpPr>
          <p:cNvPr id="8" name="Shape 5"/>
          <p:cNvSpPr/>
          <p:nvPr/>
        </p:nvSpPr>
        <p:spPr>
          <a:xfrm>
            <a:off x="2560320" y="1188720"/>
            <a:ext cx="1965960" cy="3566160"/>
          </a:xfrm>
          <a:prstGeom prst="roundRect">
            <a:avLst>
              <a:gd name="adj" fmla="val 3721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314700" y="13533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412748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33472" y="190195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Table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697480" y="2286000"/>
            <a:ext cx="1691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Criminal_ID (Integer)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(Varchar)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(Integer)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(Varchar)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Previous_Cases (Varchar)</a:t>
            </a:r>
            <a:endParaRPr lang="en-US" sz="860" dirty="0"/>
          </a:p>
        </p:txBody>
      </p:sp>
      <p:sp>
        <p:nvSpPr>
          <p:cNvPr id="13" name="Shape 9"/>
          <p:cNvSpPr/>
          <p:nvPr/>
        </p:nvSpPr>
        <p:spPr>
          <a:xfrm>
            <a:off x="4663440" y="1188720"/>
            <a:ext cx="1965960" cy="3566160"/>
          </a:xfrm>
          <a:prstGeom prst="roundRect">
            <a:avLst>
              <a:gd name="adj" fmla="val 3721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5417820" y="13533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256" y="1412748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36592" y="190195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Table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800600" y="2286000"/>
            <a:ext cx="1691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Case_ID (Integer)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FIR_ID (Integer)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IO_ID (Integer)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(Varchar)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Chargesheet_Date (Date)</a:t>
            </a:r>
            <a:endParaRPr lang="en-US" sz="860" dirty="0"/>
          </a:p>
        </p:txBody>
      </p:sp>
      <p:sp>
        <p:nvSpPr>
          <p:cNvPr id="18" name="Shape 13"/>
          <p:cNvSpPr/>
          <p:nvPr/>
        </p:nvSpPr>
        <p:spPr>
          <a:xfrm>
            <a:off x="6766560" y="1188720"/>
            <a:ext cx="1965960" cy="3566160"/>
          </a:xfrm>
          <a:prstGeom prst="roundRect">
            <a:avLst>
              <a:gd name="adj" fmla="val 3721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7520940" y="13533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1412748"/>
            <a:ext cx="338328" cy="3383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39712" y="190195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Table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903720" y="2286000"/>
            <a:ext cx="1691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Evidence_ID (Integer)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Case_ID (Integer)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(Varchar)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(Varchar)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Collected_Date (Date)</a:t>
            </a:r>
            <a:endParaRPr lang="en-US" sz="86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86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Storage_Location (Varchar)</a:t>
            </a:r>
            <a:endParaRPr lang="en-US" sz="86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&amp; Constraints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" y="153436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21488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connection available (web version)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server is operational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personnel can access the system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entered by officers is accurate and verified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F4F8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937760" y="1463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083" y="1534363"/>
            <a:ext cx="405994" cy="405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937760" y="21488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officers can register an FIR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FIR cannot be deleted, only its status updated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records require chain-of-custody logging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FIR numbers are not allowed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3474720"/>
            <a:ext cx="3108960" cy="310896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-1280160"/>
            <a:ext cx="2743200" cy="274320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55824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3716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Criteria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1920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will be considered successful if it: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546604"/>
            <a:ext cx="320040" cy="3200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25" y="2588209"/>
            <a:ext cx="236830" cy="2368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4231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valid users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09160" y="2546604"/>
            <a:ext cx="320040" cy="3200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765" y="2588209"/>
            <a:ext cx="236830" cy="2368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6360" y="24231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FIRs accurately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02920" y="3204972"/>
            <a:ext cx="320040" cy="3200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25" y="3246577"/>
            <a:ext cx="236830" cy="2368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0815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investigation status correctly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709160" y="3204972"/>
            <a:ext cx="320040" cy="3200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765" y="3246577"/>
            <a:ext cx="236830" cy="23683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66360" y="30815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criminal history records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02920" y="3863340"/>
            <a:ext cx="320040" cy="3200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25" y="3904945"/>
            <a:ext cx="236830" cy="23683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60120" y="373989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evidence with chain of custody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4709160" y="3863340"/>
            <a:ext cx="320040" cy="3200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765" y="3904945"/>
            <a:ext cx="236830" cy="23683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66360" y="373989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case reports without errors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502920" y="4521708"/>
            <a:ext cx="320040" cy="32004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25" y="4563313"/>
            <a:ext cx="236830" cy="23683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960120" y="439826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data consistency and security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72DC3EE-C469-49E0-A83D-CA3BE525C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983580" y="0"/>
            <a:ext cx="7160418" cy="5143500"/>
          </a:xfrm>
          <a:custGeom>
            <a:avLst/>
            <a:gdLst>
              <a:gd name="connsiteX0" fmla="*/ 7924201 w 9547224"/>
              <a:gd name="connsiteY0" fmla="*/ 0 h 6858000"/>
              <a:gd name="connsiteX1" fmla="*/ 6830968 w 9547224"/>
              <a:gd name="connsiteY1" fmla="*/ 0 h 6858000"/>
              <a:gd name="connsiteX2" fmla="*/ 6514769 w 9547224"/>
              <a:gd name="connsiteY2" fmla="*/ 0 h 6858000"/>
              <a:gd name="connsiteX3" fmla="*/ 6050802 w 9547224"/>
              <a:gd name="connsiteY3" fmla="*/ 0 h 6858000"/>
              <a:gd name="connsiteX4" fmla="*/ 4341273 w 9547224"/>
              <a:gd name="connsiteY4" fmla="*/ 0 h 6858000"/>
              <a:gd name="connsiteX5" fmla="*/ 0 w 9547224"/>
              <a:gd name="connsiteY5" fmla="*/ 0 h 6858000"/>
              <a:gd name="connsiteX6" fmla="*/ 0 w 9547224"/>
              <a:gd name="connsiteY6" fmla="*/ 6858000 h 6858000"/>
              <a:gd name="connsiteX7" fmla="*/ 4341273 w 9547224"/>
              <a:gd name="connsiteY7" fmla="*/ 6858000 h 6858000"/>
              <a:gd name="connsiteX8" fmla="*/ 6050802 w 9547224"/>
              <a:gd name="connsiteY8" fmla="*/ 6858000 h 6858000"/>
              <a:gd name="connsiteX9" fmla="*/ 6514769 w 9547224"/>
              <a:gd name="connsiteY9" fmla="*/ 6858000 h 6858000"/>
              <a:gd name="connsiteX10" fmla="*/ 6830968 w 9547224"/>
              <a:gd name="connsiteY10" fmla="*/ 6858000 h 6858000"/>
              <a:gd name="connsiteX11" fmla="*/ 7044470 w 9547224"/>
              <a:gd name="connsiteY11" fmla="*/ 6858000 h 6858000"/>
              <a:gd name="connsiteX12" fmla="*/ 7156226 w 9547224"/>
              <a:gd name="connsiteY12" fmla="*/ 6780599 h 6858000"/>
              <a:gd name="connsiteX13" fmla="*/ 7672874 w 9547224"/>
              <a:gd name="connsiteY13" fmla="*/ 6374814 h 6858000"/>
              <a:gd name="connsiteX14" fmla="*/ 9547224 w 9547224"/>
              <a:gd name="connsiteY14" fmla="*/ 3621656 h 6858000"/>
              <a:gd name="connsiteX15" fmla="*/ 7946325 w 9547224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547224" h="6858000">
                <a:moveTo>
                  <a:pt x="7924201" y="0"/>
                </a:moveTo>
                <a:lnTo>
                  <a:pt x="6830968" y="0"/>
                </a:lnTo>
                <a:lnTo>
                  <a:pt x="6514769" y="0"/>
                </a:lnTo>
                <a:lnTo>
                  <a:pt x="6050802" y="0"/>
                </a:lnTo>
                <a:lnTo>
                  <a:pt x="4341273" y="0"/>
                </a:lnTo>
                <a:lnTo>
                  <a:pt x="0" y="0"/>
                </a:lnTo>
                <a:lnTo>
                  <a:pt x="0" y="6858000"/>
                </a:lnTo>
                <a:lnTo>
                  <a:pt x="4341273" y="6858000"/>
                </a:lnTo>
                <a:lnTo>
                  <a:pt x="6050802" y="6858000"/>
                </a:lnTo>
                <a:lnTo>
                  <a:pt x="6514769" y="6858000"/>
                </a:lnTo>
                <a:lnTo>
                  <a:pt x="6830968" y="6858000"/>
                </a:lnTo>
                <a:lnTo>
                  <a:pt x="7044470" y="6858000"/>
                </a:lnTo>
                <a:lnTo>
                  <a:pt x="7156226" y="6780599"/>
                </a:lnTo>
                <a:cubicBezTo>
                  <a:pt x="7330044" y="6653108"/>
                  <a:pt x="7500671" y="6515397"/>
                  <a:pt x="7672874" y="6374814"/>
                </a:cubicBezTo>
                <a:cubicBezTo>
                  <a:pt x="8618499" y="5602839"/>
                  <a:pt x="9547224" y="4969131"/>
                  <a:pt x="9547224" y="3621656"/>
                </a:cubicBezTo>
                <a:cubicBezTo>
                  <a:pt x="9547224" y="2093192"/>
                  <a:pt x="8973488" y="754641"/>
                  <a:pt x="7946325" y="14997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659154" y="0"/>
            <a:ext cx="1897292" cy="51435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813163" y="0"/>
            <a:ext cx="1902325" cy="51435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" name="Picture 1" descr="Thank You Green Vector Art, Icons, and Graphics for Free ...">
            <a:extLst>
              <a:ext uri="{FF2B5EF4-FFF2-40B4-BE49-F238E27FC236}">
                <a16:creationId xmlns:a16="http://schemas.microsoft.com/office/drawing/2014/main" id="{AA28218C-57B2-A68B-6621-165F073A9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1058133"/>
            <a:ext cx="5334000" cy="300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676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871</Words>
  <Application>Microsoft Office PowerPoint</Application>
  <PresentationFormat>On-screen Show (16:9)</PresentationFormat>
  <Paragraphs>221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Meiryo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Police Crime Record Management System - SRS</dc:title>
  <dc:subject>PptxGenJS Presentation</dc:subject>
  <dc:creator>S. Mirthula Ferando</dc:creator>
  <cp:lastModifiedBy>samwin fernando</cp:lastModifiedBy>
  <cp:revision>4</cp:revision>
  <dcterms:created xsi:type="dcterms:W3CDTF">2026-07-08T16:06:46Z</dcterms:created>
  <dcterms:modified xsi:type="dcterms:W3CDTF">2026-07-23T07:47:55Z</dcterms:modified>
</cp:coreProperties>
</file>